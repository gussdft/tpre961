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3FA7D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FA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MSPR — BLOC 2   ·   RNCP 35584   ·   TPRE961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Déployer un ERP sur Kubernetes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: Odoo sur un cluster K3s, 100 % Infrastructure as Code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4128" y="3520440"/>
            <a:ext cx="301752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Société COGIP — Client Tesker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Augustin DUFETELLE  ·  Victor LESCOUTRE  ·  Yvan DANJOU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: __ / __ /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&amp; expression du besoin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COGIP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édite des logiciels de gestion (ERP). Elle a remporté un contrat majeur avec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Tesker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constructeur de véhicules électriques, et externalise son infrastructure.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mission : proposer un premier PoC d'infrastructure démontrant le déploiement de l'ERP Odoo sur Kubernetes.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92240" y="141732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417320"/>
            <a:ext cx="109728" cy="12344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5819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Évolutive &amp; flexible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12280" y="20391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 en charge facilement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283464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834640"/>
            <a:ext cx="109728" cy="12344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29992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Résiliente aux pannes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12280" y="34564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Kubernetes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425196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4251960"/>
            <a:ext cx="109728" cy="12344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4165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Reproductible (PRA)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812280" y="48737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 du Proof of Concept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Odoo sur un cluster Kubernetes, de façon entièrement automatisée et reproductible.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468880"/>
            <a:ext cx="2560320" cy="12801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nœuds K3s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control-plane + 2 workers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29000" y="246888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2468880"/>
            <a:ext cx="2560320" cy="128016"/>
          </a:xfrm>
          <a:prstGeom prst="rect">
            <a:avLst/>
          </a:prstGeom>
          <a:solidFill>
            <a:srgbClr val="3FA7D6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788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100 %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342900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Code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4617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Ansible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468880"/>
            <a:ext cx="2560320" cy="12801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788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621792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4617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 reconstruit tout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06840" y="246888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06840" y="2468880"/>
            <a:ext cx="2560320" cy="128016"/>
          </a:xfrm>
          <a:prstGeom prst="rect">
            <a:avLst/>
          </a:prstGeom>
          <a:solidFill>
            <a:srgbClr val="3FA7D6"/>
          </a:solidFill>
          <a:ln/>
        </p:spPr>
      </p:sp>
      <p:sp>
        <p:nvSpPr>
          <p:cNvPr id="24" name="Text 22"/>
          <p:cNvSpPr/>
          <p:nvPr/>
        </p:nvSpPr>
        <p:spPr>
          <a:xfrm>
            <a:off x="9006840" y="2788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900684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0" y="4617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odoo.cogip.local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Équipe &amp; méthode agile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737360"/>
            <a:ext cx="777240" cy="777240"/>
          </a:xfrm>
          <a:prstGeom prst="ellipse">
            <a:avLst/>
          </a:prstGeom>
          <a:solidFill>
            <a:srgbClr val="EEF3FA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Augustin DUFETELLE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 / Applicatif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Odoo, PostgreSQL, dossier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1688" y="146304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737360"/>
            <a:ext cx="777240" cy="777240"/>
          </a:xfrm>
          <a:prstGeom prst="ellipse">
            <a:avLst/>
          </a:prstGeom>
          <a:solidFill>
            <a:srgbClr val="EEF3FA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737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50408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Victor LESCOUTRE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36008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automatisation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36008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K3s, Ansible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83296" y="146304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3336" y="1737360"/>
            <a:ext cx="777240" cy="777240"/>
          </a:xfrm>
          <a:prstGeom prst="ellipse">
            <a:avLst/>
          </a:prstGeom>
          <a:solidFill>
            <a:srgbClr val="EEF3FA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1737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72016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Yvan DANJOU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57616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/ Réseau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57616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NFS, Ingress, tests, preuves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10972800" cy="1737360"/>
          </a:xfrm>
          <a:prstGeom prst="roundRect">
            <a:avLst>
              <a:gd name="adj" fmla="val 4737"/>
            </a:avLst>
          </a:prstGeom>
          <a:solidFill>
            <a:srgbClr val="F6F9FD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 &amp; outils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" y="44348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Agilité 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hybride + Kanban (À faire → En cours → Revue technique → Terminé), points quotidiens et revue technique collective.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(versionnement du code, secrets exclus), messagerie d'équipe, suivi par jalons.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 : planning &amp; jalons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conduit sur ~4 semaines, jalonné par 5 étapes clés (détail dans le diagramme de Gantt).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10424160" cy="45720"/>
          </a:xfrm>
          <a:prstGeom prst="rect">
            <a:avLst/>
          </a:prstGeom>
          <a:solidFill>
            <a:srgbClr val="D0DCEC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99008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1965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94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A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22/05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Cadrage validé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7548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 + Gantt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30168" y="299008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3630168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44368" y="3657600"/>
            <a:ext cx="1965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44368" y="3794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A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28/05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35808" y="42062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 Terraform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35808" y="47548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VMs actives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43016" y="299008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5843016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57216" y="3657600"/>
            <a:ext cx="1965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57216" y="3794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A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04/06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248656" y="42062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K3s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48656" y="47548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nœuds Ready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55864" y="299008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8055864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70064" y="3657600"/>
            <a:ext cx="1965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70064" y="3794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A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10/06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61504" y="42062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Odoo en HTTPS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61504" y="47548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odoo.cogip.local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268712" y="299008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3" name="Text 31"/>
          <p:cNvSpPr/>
          <p:nvPr/>
        </p:nvSpPr>
        <p:spPr>
          <a:xfrm>
            <a:off x="10268712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582912" y="3657600"/>
            <a:ext cx="1965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582912" y="3794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A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16/06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674352" y="42062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Soutenance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74352" y="47548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+ démo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Choix technologiques &amp; justification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109728" cy="1737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K3s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Kubernetes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9572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+ ServiceLB intégrés : pas de MetalLB ni ingress-nginx. Léger, idéal pour 8 Go de RAM.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63040"/>
            <a:ext cx="109728" cy="1737360"/>
          </a:xfrm>
          <a:prstGeom prst="rect">
            <a:avLst/>
          </a:prstGeom>
          <a:solidFill>
            <a:srgbClr val="3FA7D6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Multipass (QEMU)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local ARM64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39572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VMs Ubuntu 22.04 natives Apple Silicon. Coût nul, 100 % reproductible.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429000"/>
            <a:ext cx="109728" cy="1737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611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 + Ansible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6012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36168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crée les VMs ; Ansible installe K3s, NFS, cert-manager et déploie Odoo.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42900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3429000"/>
            <a:ext cx="109728" cy="1737360"/>
          </a:xfrm>
          <a:prstGeom prst="rect">
            <a:avLst/>
          </a:prstGeom>
          <a:solidFill>
            <a:srgbClr val="3FA7D6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611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 officielles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3796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17 + PostgreSQL 16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36168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Bitnami écarté (déprécié → ImagePullBackOff). Manifests via kubernetes.core.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de la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pic>
        <p:nvPicPr>
          <p:cNvPr id="6" name="Image 0" descr="proof_ar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4308" y="1371600"/>
            <a:ext cx="7260336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poste Mac à l'accès Odoo en HTTPS — cluster K3s, stockage NFS, Ingress Traefik.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déploiement entièrement automatisé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0" y="2395728"/>
            <a:ext cx="594360" cy="5943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395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les 3 VMs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Multipass (cloud-init)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82112" y="2194560"/>
            <a:ext cx="38404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47872" y="219456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2395728"/>
            <a:ext cx="594360" cy="594360"/>
          </a:xfrm>
          <a:prstGeom prst="ellipse">
            <a:avLst/>
          </a:prstGeom>
          <a:solidFill>
            <a:srgbClr val="3FA7D6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2395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39312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 — Cluster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39312" y="3611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 K3s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serveur NFS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89904" y="2194560"/>
            <a:ext cx="38404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55664" y="219456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15784" y="2395728"/>
            <a:ext cx="594360" cy="5943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7415784" y="2395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47104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 — Plateforme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47104" y="3611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: provisioner NFS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cert-manager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97696" y="2194560"/>
            <a:ext cx="38404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363456" y="219456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23576" y="2395728"/>
            <a:ext cx="594360" cy="594360"/>
          </a:xfrm>
          <a:prstGeom prst="ellipse">
            <a:avLst/>
          </a:prstGeom>
          <a:solidFill>
            <a:srgbClr val="3FA7D6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3576" y="23957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54896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 — Odoo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54896" y="36118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Odoo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Ingress HTTPS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84632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6284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5840" y="50292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all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reconstruit l'ensemble de la plateforme, du provisionnement à l'application, sans aucune action manuelle.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FA7D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3FA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DÉMONSTRATION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cluster en direct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cluster — 3 nœuds Ready, tous les pods Running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accessible dans le navigateur en HTTPS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automatisée (make down → make all)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Preuve : cluster opérationnel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pic>
        <p:nvPicPr>
          <p:cNvPr id="6" name="Image 0" descr="proof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675120" cy="20844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371600"/>
            <a:ext cx="4005072" cy="2240280"/>
          </a:xfrm>
          <a:prstGeom prst="roundRect">
            <a:avLst>
              <a:gd name="adj" fmla="val 3673"/>
            </a:avLst>
          </a:prstGeom>
          <a:solidFill>
            <a:srgbClr val="F6F9FD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0" y="1536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montre make status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0" y="1938528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nœuds Ready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(K3s v1.30.4)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Running 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Traefik, cert-manager, NFS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odoo 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+ PostgreSQL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odoo.cogip.local (80/443)</a:t>
            </a:r>
            <a:endParaRPr lang="en-US" sz="1250" dirty="0"/>
          </a:p>
        </p:txBody>
      </p:sp>
      <p:pic>
        <p:nvPicPr>
          <p:cNvPr id="10" name="Image 1" descr="proof_re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5120640" cy="25248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89320" y="3977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RECAP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989320" y="4480560"/>
            <a:ext cx="5532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6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= 0   ·   unreachable = 0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Ansible réussi sur les 3 nœuds — l'ensemble de la plateforme installée sans erreur.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Preuve : Odoo accessible via l'Ingress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pic>
        <p:nvPicPr>
          <p:cNvPr id="6" name="Image 0" descr="proof_odo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498080" cy="47263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417320"/>
            <a:ext cx="3136392" cy="4572000"/>
          </a:xfrm>
          <a:prstGeom prst="roundRect">
            <a:avLst>
              <a:gd name="adj" fmla="val 2624"/>
            </a:avLst>
          </a:prstGeom>
          <a:solidFill>
            <a:srgbClr val="F6F9FD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0" y="1417320"/>
            <a:ext cx="109728" cy="4572000"/>
          </a:xfrm>
          <a:prstGeom prst="rect">
            <a:avLst/>
          </a:prstGeom>
          <a:solidFill>
            <a:srgbClr val="3FA7D6"/>
          </a:solidFill>
          <a:ln/>
        </p:spPr>
      </p:sp>
      <p:sp>
        <p:nvSpPr>
          <p:cNvPr id="9" name="Text 6"/>
          <p:cNvSpPr/>
          <p:nvPr/>
        </p:nvSpPr>
        <p:spPr>
          <a:xfrm>
            <a:off x="8641080" y="1645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https://odoo.cogip.local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41080" y="23317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L'ERP Odoo 17 est servi par le cluster, exposé en HTTPS via Traefik (certificat auto-signé cert-manager).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41080" y="40233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de démonstration COGIP a été créée pour la soutenance.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Pilotage des prestataires &amp; inclusion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pic>
        <p:nvPicPr>
          <p:cNvPr id="6" name="Image 0" descr="proof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4526280" cy="45087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126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: SLA, coûts, pénalités, analyse croisée et graphiques.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35040" y="1508760"/>
            <a:ext cx="5486400" cy="4754880"/>
          </a:xfrm>
          <a:prstGeom prst="roundRect">
            <a:avLst>
              <a:gd name="adj" fmla="val 1731"/>
            </a:avLst>
          </a:prstGeom>
          <a:solidFill>
            <a:srgbClr val="F6F9FD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1737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Démarche inclusive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55080" y="22860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du handicap :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accessibles, aménagement du poste, délais adaptés.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multiculturelle :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active, reformulation, anglais, fuseaux horaires.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à distance :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collaboratif, check-in / check-out, base documentaire partagée.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Cohésion :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informels, serious game, webinaires interculturels.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Difficultés rencontrées &amp; solutions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025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apportée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VMs sur 8 Go de 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Dimensionnement réduit + option de repli à nœud unique (carte nodes)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Bitnami Odoo déprécié (ImagePullBackOff)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officielles déployées par manifests (kubernetes.core.k8s)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No route to host » au 1er déploiement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Amorçage ARP (ping des VMs) avant Ansible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d'inventaire : JSON vide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du JSON via un fichier temporaire (conflit pipe / heredoc)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 Ansible « yaml » supprimé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stdout_callback=default + result_format=yaml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Reprise d'Activité (PRA)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reproductibilité, exigence centrale de COGIP, se résume à deux commandes 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DEEEE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514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2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down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Détruit l'infrastructure (simulation d'un incident majeur).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EAF4EE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514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E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all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75120" y="3154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Reconstruit tout à l'identique : VMs → K3s → NFS → cert-manager → Odoo.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972800" cy="1554480"/>
          </a:xfrm>
          <a:prstGeom prst="roundRect">
            <a:avLst>
              <a:gd name="adj" fmla="val 5294"/>
            </a:avLst>
          </a:prstGeom>
          <a:solidFill>
            <a:srgbClr val="16284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754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Aucune action manuelle entre les deux. État final identique, garanti par le code.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05840" y="53492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C'est la démonstration concrète du Plan de Reprise d'Activité demandé par Tesker.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77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 la production (cloud managé)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Bloc 2 — TPRE961</a:t>
            </a:r>
            <a:pPr algn="l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COGIP / Tesker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découpage Terraform / Ansible se transpose en production haute disponibilité 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450592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managé HA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971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Kapsule / GKE / AKS — control-plane managé, workers multi-zones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450592"/>
            <a:ext cx="502920" cy="502920"/>
          </a:xfrm>
          <a:prstGeom prst="ellipse">
            <a:avLst/>
          </a:prstGeom>
          <a:solidFill>
            <a:srgbClr val="3FA7D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2423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Stockage CSI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32320" y="2971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réseau répliqués au lieu du NFS local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370832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4343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TLS Let's Encrypt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48920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ACME + LoadBalancer managé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4114800"/>
            <a:ext cx="5303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4370832"/>
            <a:ext cx="502920" cy="502920"/>
          </a:xfrm>
          <a:prstGeom prst="ellipse">
            <a:avLst/>
          </a:prstGeom>
          <a:solidFill>
            <a:srgbClr val="3FA7D6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0" y="4343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&amp; exploitation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32320" y="48920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en coffre, sauvegardes PostgreSQL, observabilité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3FA7D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3774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 fonctionnel : </a:t>
            </a:r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sur Kubernetes, exposé en HTTPS, 100 % automatisé.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 : </a:t>
            </a:r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démontré en une commande.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 en agilité : </a:t>
            </a:r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Gantt, Kanban, pilotage et démarche inclusive.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24128" y="4754880"/>
            <a:ext cx="2743200" cy="1828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029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de votre attention — Questions 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Augustin DUFETELLE  ·  Victor LESCOUTRE  ·  Yvan DANJOU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MSPR TPRE961 — Odoo sur Kubernetes</dc:title>
  <dc:subject>PptxGenJS Presentation</dc:subject>
  <dc:creator>Augustin DUFETELLE, Victor LESCOUTRE, Yvan DANJOU</dc:creator>
  <cp:lastModifiedBy>Augustin DUFETELLE, Victor LESCOUTRE, Yvan DANJOU</cp:lastModifiedBy>
  <cp:revision>1</cp:revision>
  <dcterms:created xsi:type="dcterms:W3CDTF">2026-06-15T13:47:00Z</dcterms:created>
  <dcterms:modified xsi:type="dcterms:W3CDTF">2026-06-15T13:47:00Z</dcterms:modified>
</cp:coreProperties>
</file>